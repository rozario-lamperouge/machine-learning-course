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time (seconds)</c:v>
                </c:pt>
              </c:strCache>
            </c:strRef>
          </c:tx>
          <c:spPr>
            <a:solidFill>
              <a:srgbClr val="E8683F"/>
            </a:solidFill>
            <a:effectLst/>
          </c:spPr>
          <c:invertIfNegative val="0"/>
          <c:dLbls>
            <c:numFmt formatCode="0.0&quot;s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0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8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6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exact</c:v>
                  </c:pt>
                  <c:pt idx="1">
                    <c:v>approx</c:v>
                  </c:pt>
                  <c:pt idx="2">
                    <c:v>hist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22.7</c:v>
                </c:pt>
                <c:pt idx="2">
                  <c:v>2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02A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D8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sessions: ensembles today, boosting and XGBoost next. Everything on these slides has a runnable cell in the Colab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 builds intuition with parallel ensembles. Session 2 goes deep on sequential ones. The second half of each session is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Condorcet's Jury Theorem, 1785. The key word in the whole slide is *independent* — the next slide is about why that word is the hard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rest of session 1 with this slide — each method is just a different diversity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slide decides which family you reach for. Deep overfitting base models -&gt; bag them. Shallow underfitting base models -&gt; boost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which feature is 'most important' here? The trees disagree on the very first question. That's variance you can average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back to this slide at the end of each method. Everything in both sessions lives in one of these three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black dashed true curve sits inside the shaded band on the right. Bias is unchanged; the wobble is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Marker size is the sample weight. By round 3 the model is spending all its attention on the boundary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people photograph.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the notebooks. Everything on these slides has a runnable, plotted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566160"/>
            <a:ext cx="3291840" cy="329184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Gradient Boosting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majority voting to XGBoost — the theory behind the notebooks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  ·  4 hours  ·  hands-on Colab notebooks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sessions, one continuous story: how to make many weak models into one strong one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48072" cy="4114800"/>
          </a:xfrm>
          <a:prstGeom prst="roundRect">
            <a:avLst>
              <a:gd name="adj" fmla="val 3111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 Methods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ensembles work at all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variance and the decision tree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· Bagging · Random Forest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· AdaBoost · Stacking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ensemble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148072" cy="4114800"/>
          </a:xfrm>
          <a:prstGeom prst="roundRect">
            <a:avLst>
              <a:gd name="adj" fmla="val 3111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0" y="2377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&amp; Gradient Boosting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30175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from first principles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in function space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XGBoost changed, and why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&amp; hyper-parameters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Imbalance, interpretation, pitfalls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280160"/>
            <a:ext cx="4389120" cy="43891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920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 Methods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models, one answer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75107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751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crowd beats an expert — under one condition</a:t>
            </a:r>
            <a:endParaRPr lang="en-US" sz="3100" dirty="0"/>
          </a:p>
        </p:txBody>
      </p:sp>
      <p:pic>
        <p:nvPicPr>
          <p:cNvPr id="5" name="Image 0" descr="/home/claude/deck/img/crow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59436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874520"/>
            <a:ext cx="4526280" cy="1600200"/>
          </a:xfrm>
          <a:prstGeom prst="roundRect">
            <a:avLst>
              <a:gd name="adj" fmla="val 571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42632" y="2020824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model is better than a coin flip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42632" y="2331720"/>
            <a:ext cx="4014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drives the ensemble's accuracy towards 100% as you add more members.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86600" y="3657600"/>
            <a:ext cx="4526280" cy="1600200"/>
          </a:xfrm>
          <a:prstGeom prst="roundRect">
            <a:avLst>
              <a:gd name="adj" fmla="val 571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42632" y="3803904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model is worse than a coin flip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42632" y="4114800"/>
            <a:ext cx="4014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drives accuracy towards 0%. Averaging bad models makes things worse, not better.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5440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models that are each 60% right vote their way to ~98%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models make the same mistakes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ensemble method is an answer to one question: how do I make my models disagree usefully?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2257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225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genuinely different algorithms — tree, SVM, kNN, logistic regression.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9976" y="210312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32257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57216" y="23225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36008" y="283464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model a different random sample of the ROWS.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19872" y="210312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232257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97112" y="23225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rows AND a random subset of COLUMNS at every split.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28853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28853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480060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columns, and random split thresholds too.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79976" y="406908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4288536"/>
            <a:ext cx="420624" cy="420624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57216" y="428853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36008" y="480060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each model on what the previous ones got WRONG.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19872" y="406908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57616" y="4288536"/>
            <a:ext cx="420624" cy="420624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97112" y="428853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75904" y="480060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meta-model learn whom to trust, and when.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and variance — the map you navigate by</a:t>
            </a:r>
            <a:endParaRPr lang="en-US" sz="3100" dirty="0"/>
          </a:p>
        </p:txBody>
      </p:sp>
      <p:pic>
        <p:nvPicPr>
          <p:cNvPr id="5" name="Image 0" descr="/home/claude/deck/img/biasvari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645920"/>
            <a:ext cx="429768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 =  Bias²  +  Variance  +  Noise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6126480" cy="1554480"/>
          </a:xfrm>
          <a:prstGeom prst="roundRect">
            <a:avLst>
              <a:gd name="adj" fmla="val 5882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660904"/>
            <a:ext cx="5614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wrong assumptions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2971800"/>
            <a:ext cx="5614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too simple to capture the pattern. It is wrong in the same way every time. A tree stump has high bias.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6126480" cy="1737360"/>
          </a:xfrm>
          <a:prstGeom prst="roundRect">
            <a:avLst>
              <a:gd name="adj" fmla="val 526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4352544"/>
            <a:ext cx="5614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— sensitivity to the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" y="4663440"/>
            <a:ext cx="5614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few training rows and the model changes completely. A fully-grown decision tree has high variance.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080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attacks variance.   Boosting attacks bias.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almost every ensemble is built from trees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48072" cy="3977640"/>
          </a:xfrm>
          <a:prstGeom prst="roundRect">
            <a:avLst>
              <a:gd name="adj" fmla="val 3218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03120"/>
            <a:ext cx="402336" cy="40233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fast to train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numeric + categorical together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non-linearity and interactions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or normalisation needed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in the inputs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148072" cy="3977640"/>
          </a:xfrm>
          <a:prstGeom prst="roundRect">
            <a:avLst>
              <a:gd name="adj" fmla="val 3218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103120"/>
            <a:ext cx="402336" cy="402336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2103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variance — unstable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at smooth or linear relationships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extrapolate beyond the data seen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tree memorises its training set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 alone rarely wins anything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weakness on the right is exactly what bagging feeds 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algorithm, twelve different answers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trees, identical settings — only the training rows differ</a:t>
            </a:r>
            <a:endParaRPr lang="en-US" sz="1450" dirty="0"/>
          </a:p>
        </p:txBody>
      </p:sp>
      <p:pic>
        <p:nvPicPr>
          <p:cNvPr id="6" name="Image 0" descr="/home/claude/deck/img/wob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103327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this instability is a bug. Collectively, it is exactly the diversity an ensemble needs.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1201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combine models</a:t>
            </a:r>
            <a:endParaRPr lang="en-US" sz="3100" dirty="0"/>
          </a:p>
        </p:txBody>
      </p:sp>
      <p:pic>
        <p:nvPicPr>
          <p:cNvPr id="5" name="Image 0" descr="/home/claude/deck/img/fami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112928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trains in parallel · Boosting trains in sequence · Stacking trains a model on top of models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171700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VOTING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voting counts labels. Soft voting weighs confidence.</a:t>
            </a:r>
            <a:endParaRPr lang="en-US" sz="2600" dirty="0"/>
          </a:p>
        </p:txBody>
      </p:sp>
      <p:pic>
        <p:nvPicPr>
          <p:cNvPr id="5" name="Image 0" descr="/home/claude/deck/img/vo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37360"/>
            <a:ext cx="74066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87452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22792" y="2020824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soft voting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22792" y="2331720"/>
            <a:ext cx="2734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your models can output calibrated probabilities. A model that is 90% sure should outvote one that is 51% sure.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66760" y="379476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22792" y="3941064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22792" y="4251960"/>
            <a:ext cx="2734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must be comparably good. One weak member drags the whole ensemble down — or use weights.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6235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ensemble there is: same data, different algorithms, one combined answer.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BAGGING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bootstrap: sample N rows, with replacement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AGGregating — Breiman, 1996</a:t>
            </a:r>
            <a:endParaRPr lang="en-US" sz="1450" dirty="0"/>
          </a:p>
        </p:txBody>
      </p:sp>
      <p:pic>
        <p:nvPicPr>
          <p:cNvPr id="6" name="Image 0" descr="/home/claude/deck/img/bootstr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011680"/>
            <a:ext cx="106984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53492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49554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 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" y="5806440"/>
            <a:ext cx="4700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sees about two-thirds of the unique rows — enough to learn, different enough to disagree.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5349240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5495544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 out-of-bag = free validation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19672" y="5806440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tree on the rows it never saw. No holdout set needed: set oob_score=True.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BAGGING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Averaging cancels the noise, keeps the signal</a:t>
            </a:r>
            <a:endParaRPr lang="en-US" sz="3100" dirty="0"/>
          </a:p>
        </p:txBody>
      </p:sp>
      <p:pic>
        <p:nvPicPr>
          <p:cNvPr id="5" name="Image 0" descr="/home/claude/deck/img/vari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83080"/>
            <a:ext cx="106070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bias, far less variance. Bagging never makes the average model worse — it makes it steadier.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BAGGING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in practice</a:t>
            </a:r>
            <a:endParaRPr lang="en-US" sz="3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model — trees, kNN, 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models to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given to each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(N with replacement)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given to each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(&lt; 1.0 = random subspace)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oob_score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out-of-bag validation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workers — bagging is embarrassingly parallel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92024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82712" y="2066544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never hurt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77440"/>
            <a:ext cx="33741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curve rises and then flattens. It never turns back down. Extra trees only cost you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3977640"/>
            <a:ext cx="3886200" cy="2011680"/>
          </a:xfrm>
          <a:prstGeom prst="roundRect">
            <a:avLst>
              <a:gd name="adj" fmla="val 4545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82712" y="4123944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HIGH-variance base model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82712" y="4434840"/>
            <a:ext cx="33741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removes variance, so give it something with plenty to remove: fully grown, unpruned trees. Bagging a linear model achieves almost nothing.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90779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RANDOM FOREST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= bagging + column randomness</a:t>
            </a:r>
            <a:endParaRPr lang="en-US" sz="3100" dirty="0"/>
          </a:p>
        </p:txBody>
      </p:sp>
      <p:pic>
        <p:nvPicPr>
          <p:cNvPr id="5" name="Image 0" descr="/home/claude/deck/img/r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105156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1206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5266944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5577840"/>
            <a:ext cx="100035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bagging every tree splits on the same dominant feature first, so the trees end up nearly identical — and averaging near-identical models buys you nothing. Hiding most columns at each split forces the trees apart.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90779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RANDOM FOREST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decorrelation matters more than more trees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Var(average)  =  ρ σ²  +  (1 − ρ)/B · σ²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number of trees        ρ = correlation between them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8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term vanishes as you add trees — that is the easy half.</a:t>
            </a:r>
            <a:endParaRPr lang="en-US" sz="1450" dirty="0"/>
          </a:p>
          <a:p>
            <a:pPr marL="342900" indent="-342900">
              <a:lnSpc>
                <a:spcPts val="1958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term only shrinks if the trees become LESS correlated.</a:t>
            </a:r>
            <a:endParaRPr lang="en-US" sz="1450" dirty="0"/>
          </a:p>
          <a:p>
            <a:pPr marL="342900" indent="-342900">
              <a:lnSpc>
                <a:spcPts val="1958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is the dial that lowers ρ. It trades a little extra bias per tree for a big drop in correlation.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828800"/>
          <a:ext cx="45262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1945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–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'sqrt' for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leave trees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raise to 3-5 if noisy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'balanced' if imbalanced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n_jobs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ask 'which features matter?'</a:t>
            </a:r>
            <a:endParaRPr lang="en-US" sz="3100" dirty="0"/>
          </a:p>
        </p:txBody>
      </p:sp>
      <p:pic>
        <p:nvPicPr>
          <p:cNvPr id="5" name="Image 0" descr="/home/claude/deck/img/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109728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30352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5449824"/>
            <a:ext cx="10460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Both are misleading when features are correlated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5760720"/>
            <a:ext cx="10460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columns carry the same signal, the model uses one and the other looks worthless. Neither ranking means 'this feature causes the outcome' — for that you need SHAP, or an experiment.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4 — EXTRA TREES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Extremely Randomised Trees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turn of the randomness dial — and it is usually free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7589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743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per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training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per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subset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subset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BEST cut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cut points, best of those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— no threshold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higher / 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tabular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data, many weak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205740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05672" y="220370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experiment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05672" y="2514600"/>
            <a:ext cx="25511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RandomForestClassifier for ExtraTreesClassifier. Same API, same parameters.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49640" y="41148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05672" y="426110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05672" y="4572000"/>
            <a:ext cx="2551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thresholds add bias to each tree but decorrelate them further — often a net win.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5 — BOOSTING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AdaBoost: make the hard examples louder</a:t>
            </a:r>
            <a:endParaRPr lang="en-US" sz="3100" dirty="0"/>
          </a:p>
        </p:txBody>
      </p:sp>
      <p:pic>
        <p:nvPicPr>
          <p:cNvPr id="5" name="Image 0" descr="/home/claude/deck/img/adabo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1129284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3000" y="51937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equal weights on every row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65576" y="5257800"/>
            <a:ext cx="384048" cy="384048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5576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68496" y="51937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weak model — a depth-1 stump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91072" y="5257800"/>
            <a:ext cx="384048" cy="384048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93992" y="51937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weight of every row it got wrong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16568" y="5257800"/>
            <a:ext cx="384048" cy="384048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1656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19488" y="51937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stump a vote proportional to its accuracy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6 — STACKING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Stacking: learn the combination rule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uses a fixed rule. Stacking trains a model to find a better one.</a:t>
            </a:r>
            <a:endParaRPr lang="en-US" sz="1450" dirty="0"/>
          </a:p>
        </p:txBody>
      </p:sp>
      <p:pic>
        <p:nvPicPr>
          <p:cNvPr id="6" name="Image 0" descr="/home/claude/deck/img/stac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057400"/>
            <a:ext cx="106984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5321808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46811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meta-model simple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" y="5779008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or ridge regression. A complex meta-model just overfits the prediction matrix.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5321808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546811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(K+1) × everything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73952" y="5779008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base models with 5-fold CV means 30 model fits. Budget for it before you promise it.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171700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SLIDE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vs Boosting — everything on one page</a:t>
            </a:r>
            <a:endParaRPr lang="en-US" sz="3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270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60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/ 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learners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trees — low bias, high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trees — high bias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Independently, in parallel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Sequentially, on the previous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(and variance, via shrinkage)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hurts — the curve flattens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overfit — needs early stopping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&amp;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— it keeps chasing hard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Tuning effort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good out of the 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rate × rounds ×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within a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the winner on tabular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ensemble should I reach for?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in five minutes, barely any tuning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19659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Random Forest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88336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88336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data, many irrelevant features, need speed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26883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Extra Trees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10712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possible tabular accuracy, and you can tune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4107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XGBoost / LightGBM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3308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that overfits and you want it stabilised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1330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Bagging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5546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several good, different models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48554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Soft voting, then Stacking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927080" cy="603504"/>
          </a:xfrm>
          <a:prstGeom prst="roundRect">
            <a:avLst>
              <a:gd name="adj" fmla="val 1212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77840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 or a stakeholder will read the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5577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Random Forest or a single tree + SHAP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series? Never use plain K-fold — use TimeSeriesSplit, whichever ensemble you pick.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280160"/>
            <a:ext cx="4389120" cy="438912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920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6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XGBoost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models that learn from their own mistakes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boosted model is one long sum</a:t>
            </a:r>
            <a:endParaRPr lang="en-US" sz="3100" dirty="0"/>
          </a:p>
        </p:txBody>
      </p:sp>
      <p:pic>
        <p:nvPicPr>
          <p:cNvPr id="5" name="Image 0" descr="/home/claude/deck/img/addi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112928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120640"/>
            <a:ext cx="3465576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5257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F₀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96112" y="5669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first guess — the mean, or the log-odds of the base rate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9976" y="5120640"/>
            <a:ext cx="3465576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6008" y="5257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6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hₘ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636008" y="5669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learner: a shallow regression tree, usually depth 3 to 8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19872" y="5120640"/>
            <a:ext cx="3465576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5904" y="5257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375904" y="5669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— shrinks every step so no single tree dominates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90779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FLAVOURS OF BOOSTING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 re-weights rows. Gradient boosting re-targets them.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27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434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(1997)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(2001)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the WEIGHT of misclassified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the next tree to the NEGATIVE GRADIENT of the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next tree sees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labels, different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brand new target: the errors themselves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loss, fixed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differentiable loss you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Regression, classification, ranking, counts, survival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70916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485546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gradient boosting took over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5166360"/>
            <a:ext cx="10415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loss function changes what 'the error' means — and nothing else in the algorithm has to change. That single idea turns one method into a framework, and it is the reason XGBoost can do regression, ranking and Poisson counts with the same engine.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066544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algorithm, in nine lines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squared error, the negative gradient IS the residual — so 'follow the gradient' means 'fit the leftovers'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400800" cy="2606040"/>
          </a:xfrm>
          <a:prstGeom prst="roundRect">
            <a:avLst>
              <a:gd name="adj" fmla="val 2807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50008"/>
            <a:ext cx="585216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mean(y)                    # F0: a constant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M times: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y - F                  # what we still get wrong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DecisionTree().fit(X, r)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F + lr * h.predict(X)  # take a small step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98348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notebook, this hand-written loop matches scikit-learn's GradientBoostingRegressor to 0.000000.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214884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229514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½(y − F)²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6952" y="2606040"/>
            <a:ext cx="369417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with respect to F and you get −(y − F). The negative gradient is exactly the residual — no calculus needed at runtime.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4297680"/>
            <a:ext cx="4206240" cy="2057400"/>
          </a:xfrm>
          <a:prstGeom prst="roundRect">
            <a:avLst>
              <a:gd name="adj" fmla="val 444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444398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6952" y="4754880"/>
            <a:ext cx="369417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 and CatBoost all run this loop. What they add is regularisation, smarter split-finding and speed.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LEARN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tree fits what the last one left behind</a:t>
            </a:r>
            <a:endParaRPr lang="en-US" sz="3100" dirty="0"/>
          </a:p>
        </p:txBody>
      </p:sp>
      <p:pic>
        <p:nvPicPr>
          <p:cNvPr id="5" name="Image 0" descr="/home/claude/deck/img/residu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111099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row: at stage 0 the leftovers are still a clean sine wave — all the signal is sitting in the errors.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— but on the function, not the weights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93792" cy="1828800"/>
          </a:xfrm>
          <a:prstGeom prst="roundRect">
            <a:avLst>
              <a:gd name="adj" fmla="val 5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gradient descent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←  θ  −  ν ∇θ 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adjust the PARAMETERS of a fixed model.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193792" cy="1828800"/>
          </a:xfrm>
          <a:prstGeom prst="roundRect">
            <a:avLst>
              <a:gd name="adj" fmla="val 5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 ←  F(x)  −  ν ∂L/∂F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a whole new FUNCTION to the model.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you choose decides what 'the error' means:</a:t>
            </a:r>
            <a:endParaRPr lang="en-US" sz="14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97680"/>
          <a:ext cx="10927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306324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tree is fitted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objective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−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reg:squarederror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sign(y − 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reg:absoluteerror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− σ(F)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binary:logistic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− e^F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count:poisson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rank:pairwise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classification, the trees live in log-odds space</a:t>
            </a:r>
            <a:endParaRPr lang="en-US" sz="2600" dirty="0"/>
          </a:p>
        </p:txBody>
      </p:sp>
      <p:pic>
        <p:nvPicPr>
          <p:cNvPr id="5" name="Image 0" descr="/home/claude/deck/img/logod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109728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468112"/>
            <a:ext cx="10972800" cy="1170432"/>
          </a:xfrm>
          <a:prstGeom prst="roundRect">
            <a:avLst>
              <a:gd name="adj" fmla="val 781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5614416"/>
            <a:ext cx="10460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boosting naturally focuses on hard cases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5925312"/>
            <a:ext cx="1046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confidently-correct row has a pseudo-residual of almost zero, so the next tree simply ignores it. Nobody has to re-weight anything — the gradient does it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171700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TRADE-OFF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 and number of rounds are one knob, not two</a:t>
            </a:r>
            <a:endParaRPr lang="en-US" sz="2600" dirty="0"/>
          </a:p>
        </p:txBody>
      </p:sp>
      <p:pic>
        <p:nvPicPr>
          <p:cNvPr id="5" name="Image 0" descr="/home/claude/deck/img/learningr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400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87452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08392" y="202082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rate, double the rounds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08392" y="2331720"/>
            <a:ext cx="3648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steps generalise better — this is shrinkage regularisation — but cost proportionally more compute.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52360" y="379476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8392" y="394106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Boosting has a BEST number of rounds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08392" y="4251960"/>
            <a:ext cx="36484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bagging, the curve turns back up. Adding trees past the minimum actively makes your model worse.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fix the rate at 0.05–0.1, then let early stopping choose the number of rounds.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75107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751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XGBOOST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XGBoost actually changed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Guestrin, 2016 — five upgrades to the loop we just wrote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41401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41401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objective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92608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on the number of leaves and the size of leaf values, built into the split criterion itself.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9976" y="219456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41401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57216" y="241401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optimisation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36008" y="292608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curvature of the loss, not just the slope — giving a closed-form best leaf value.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19872" y="219456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2414016"/>
            <a:ext cx="420624" cy="420624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97112" y="241401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Sparsity-aware splits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92608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get a learned default direction at every split. No imputation required.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379976"/>
            <a:ext cx="420624" cy="420624"/>
          </a:xfrm>
          <a:prstGeom prst="ellipse">
            <a:avLst/>
          </a:prstGeom>
          <a:solidFill>
            <a:srgbClr val="E0A63C"/>
          </a:solidFill>
          <a:ln w="12700">
            <a:solidFill>
              <a:srgbClr val="E0A6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3799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split finding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489204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each feature into ~256 bins once, then scan bins instead of sorting rows.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79976" y="4160520"/>
            <a:ext cx="3465576" cy="1783080"/>
          </a:xfrm>
          <a:prstGeom prst="roundRect">
            <a:avLst>
              <a:gd name="adj" fmla="val 6154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4379976"/>
            <a:ext cx="420624" cy="420624"/>
          </a:xfrm>
          <a:prstGeom prst="ellipse">
            <a:avLst/>
          </a:prstGeom>
          <a:solidFill>
            <a:srgbClr val="E0A63C"/>
          </a:solidFill>
          <a:ln w="12700">
            <a:solidFill>
              <a:srgbClr val="E0A6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57216" y="4379976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36008" y="4892040"/>
            <a:ext cx="29535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Cache-aware layout, multi-core, out-of-core, GPU, distributed training.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83880" y="41605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4 and 5 — not the maths — are the reason XGBoost took over Kaggle.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75107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751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1 + 2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Regularisation moves inside the split decision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 =  (Σ gᵢ)²  /  (Σ hᵢ + λ)          Gain  =  Sim(left) + Sim(right) − Sim(parent)  −  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gradient   ·   h = curvature   ·   λ = L2 on leaf values   ·   γ = minimum gain to bother splitting</a:t>
            </a:r>
            <a:endParaRPr lang="en-US" sz="1250" dirty="0"/>
          </a:p>
        </p:txBody>
      </p:sp>
      <p:pic>
        <p:nvPicPr>
          <p:cNvPr id="8" name="Image 0" descr="/home/claude/deck/img/g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108960"/>
            <a:ext cx="694944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09560" y="31089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65592" y="325526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gain → prune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65592" y="3566160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simply never made. Pruning by arithmetic, not by a max_depth guess.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09560" y="46634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480974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regularisation dials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65592" y="5120640"/>
            <a:ext cx="3145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reg_lambda smooths leaf values. gamma refuses weak splits. Both make trees more conservative.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3304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are a feature, not a problem</a:t>
            </a:r>
            <a:endParaRPr lang="en-US" sz="3100" dirty="0"/>
          </a:p>
        </p:txBody>
      </p:sp>
      <p:pic>
        <p:nvPicPr>
          <p:cNvPr id="5" name="Image 0" descr="/home/claude/deck/img/miss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60350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920240"/>
            <a:ext cx="4251960" cy="1783080"/>
          </a:xfrm>
          <a:prstGeom prst="roundRect">
            <a:avLst>
              <a:gd name="adj" fmla="val 5128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1232" y="2066544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71232" y="2377440"/>
            <a:ext cx="3739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 XGBoost tries sending all the NaNs left, then all of them right, and keeps whichever scored better.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3886200"/>
            <a:ext cx="4251960" cy="2148840"/>
          </a:xfrm>
          <a:prstGeom prst="roundRect">
            <a:avLst>
              <a:gd name="adj" fmla="val 4255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1232" y="4032504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Powerful and dangerous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4343400"/>
            <a:ext cx="37398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blank means something real — 'brand new customer' — this is a genuine signal. If it is an artefact of your data pipeline that won't exist in production, the model has learned a leak. Always ask WHY it is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75107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751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4 + 5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 binning: same accuracy, a fraction of the cost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rows × 40 features × 120 trees, measured in the notebook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01168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011680"/>
            <a:ext cx="3794760" cy="1783080"/>
          </a:xfrm>
          <a:prstGeom prst="roundRect">
            <a:avLst>
              <a:gd name="adj" fmla="val 5128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2157984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28432" y="2468880"/>
            <a:ext cx="32826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every feature at every node to find the perfect cut point. Correct, and slow.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3977640"/>
            <a:ext cx="3794760" cy="1783080"/>
          </a:xfrm>
          <a:prstGeom prst="roundRect">
            <a:avLst>
              <a:gd name="adj" fmla="val 5128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28432" y="4123944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  — the default since 2.0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28432" y="4434840"/>
            <a:ext cx="32826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once into ~256 buckets, then scan buckets. Almost the same accuracy, ~16× faster here.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332841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YOU'LL USE DAILY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stopping: let the data choose the number of trees</a:t>
            </a:r>
            <a:endParaRPr lang="en-US" sz="2600" dirty="0"/>
          </a:p>
        </p:txBody>
      </p:sp>
      <p:pic>
        <p:nvPicPr>
          <p:cNvPr id="5" name="Image 0" descr="/home/claude/deck/img/earlys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400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8745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08392" y="202082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08392" y="2331720"/>
            <a:ext cx="36484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n_estimators far too high, pass a validation set, set early_stopping_rounds=50. XGBoost keeps the best iteration for you.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52360" y="38862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8392" y="403250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on the test set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08392" y="4343400"/>
            <a:ext cx="36484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IS model selection. Use a third split, or xgb.cv. Stopping on your test set inflates the score you report.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knobs. You will touch eight.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65576" cy="3931920"/>
          </a:xfrm>
          <a:prstGeom prst="roundRect">
            <a:avLst>
              <a:gd name="adj" fmla="val 3166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12848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complexity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min_child_weight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can one tree memorise?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79976" y="1965960"/>
            <a:ext cx="3465576" cy="3931920"/>
          </a:xfrm>
          <a:prstGeom prst="roundRect">
            <a:avLst>
              <a:gd name="adj" fmla="val 3166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2212848"/>
            <a:ext cx="347472" cy="347472"/>
          </a:xfrm>
          <a:prstGeom prst="ellipse">
            <a:avLst/>
          </a:prstGeom>
          <a:solidFill>
            <a:srgbClr val="E0A63C"/>
          </a:solidFill>
          <a:ln w="12700">
            <a:solidFill>
              <a:srgbClr val="E0A6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54296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4296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– 1.0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54296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54296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1.0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54296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colsample_bylevel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54296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1.0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54296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applied inside boosting.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19872" y="1965960"/>
            <a:ext cx="3465576" cy="3931920"/>
          </a:xfrm>
          <a:prstGeom prst="roundRect">
            <a:avLst>
              <a:gd name="adj" fmla="val 3166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4192" y="2212848"/>
            <a:ext cx="347472" cy="347472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&amp; penalties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94192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94192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– 0.1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94192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reg_lambda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94192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94192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reg_alpha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94192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a step, how smooth the leaves.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03504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min_child_weight, gamma and reg_lambda are three levers on the same idea — you rarely need all three.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592324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592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THAT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sane starting recipe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583680" cy="2834640"/>
          </a:xfrm>
          <a:prstGeom prst="roundRect">
            <a:avLst>
              <a:gd name="adj" fmla="val 2581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67128"/>
            <a:ext cx="60350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XGBClassifier(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      = 2000,   # let early stopping cut it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     = 0.05,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         = 5,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min_child_weight  = 2,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subsample         = 0.8,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colsample_bytree  = 0.8,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early_stopping_rounds = 50)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965960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83880" y="191109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first — a dummy model and a logistic regression. Always.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3017520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296265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recipe above with early stopping. This is usually 95% of the final score.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4069080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401421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over depth, min_child_weight, subsample and lambda.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5120640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506577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then: feature engineering — which moves the needle more than step 3.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6583680" cy="1325880"/>
          </a:xfrm>
          <a:prstGeom prst="roundRect">
            <a:avLst>
              <a:gd name="adj" fmla="val 689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175504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beats grid 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5486400"/>
            <a:ext cx="60716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parameters actually matter, and you never know which. Random search gives you more distinct values of each for the same budget.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PROBLEMS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is a convention, not a decision rule</a:t>
            </a:r>
            <a:endParaRPr lang="en-US" sz="3100" dirty="0"/>
          </a:p>
        </p:txBody>
      </p:sp>
      <p:pic>
        <p:nvPicPr>
          <p:cNvPr id="5" name="Image 0" descr="/home/claude/deck/img/thresho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400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87452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08392" y="202082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levers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08392" y="2331720"/>
            <a:ext cx="36484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changes what the model LEARNS. Moving the threshold changes how you USE it. Pick 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52360" y="3703320"/>
            <a:ext cx="416052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8392" y="384962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metric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08392" y="4160520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imbalance, ROC-AUC flatters you. Report PR-AUC and recall.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52360" y="52120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535838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business decide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08392" y="5669280"/>
            <a:ext cx="3648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threshold from the cost of a miss vs a false alarm.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a boosted model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tells you what matters on average. SHAP tells you why THIS row got THIS score.</a:t>
            </a:r>
            <a:endParaRPr lang="en-US" sz="1450" dirty="0"/>
          </a:p>
        </p:txBody>
      </p:sp>
      <p:pic>
        <p:nvPicPr>
          <p:cNvPr id="6" name="Image 0" descr="/home/claude/deck/img/sh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2011680"/>
            <a:ext cx="54864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40487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reduction from splits on the feature. This is the one to quote.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3649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feature was split on. Biased towards continuous features.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3251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those splits touched. How BROADLY it acts.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50292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5175504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the one to show a stakeholder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6112" y="5486400"/>
            <a:ext cx="4517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every individual prediction into per-feature contributions that add up exactly to the score.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751076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751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vs LightGBM vs CatBoost</a:t>
            </a:r>
            <a:endParaRPr lang="en-US" sz="3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97480"/>
                <a:gridCol w="2651760"/>
                <a:gridCol w="2651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on wide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overfit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robust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(1.6+)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tendency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out of the 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51755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advice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5486400"/>
            <a:ext cx="4791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XGBoost. Move to LightGBM at millions of rows, CatBoost for many high-cardinality categories.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50292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9672" y="51755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land within ~1% of each other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19672" y="5486400"/>
            <a:ext cx="4791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most problems the library is not your bottleneck. Feature engineering is.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961388" cy="292608"/>
          </a:xfrm>
          <a:prstGeom prst="roundRect">
            <a:avLst>
              <a:gd name="adj" fmla="val 50000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961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this goes wrong in production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31136"/>
            <a:ext cx="365760" cy="36576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12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7860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AUC on a real business problem means a leak, not a breakthrough. Find the feature that won't exist at prediction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1112" y="2231136"/>
            <a:ext cx="365760" cy="36576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212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the test 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57860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model selection. Your reported score is now optimistic.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648456"/>
            <a:ext cx="365760" cy="36576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30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K-fold on time series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99592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trained on the future. Use TimeSeriesSplit.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4290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1112" y="3648456"/>
            <a:ext cx="365760" cy="36576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630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'weight' importance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399592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favours continuous features. Use gain, or SHAP.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5065776"/>
            <a:ext cx="365760" cy="36576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047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calibration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41324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distorts probabilities. If you need real probabilities, calibrate.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48463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DF4F5"/>
          </a:solidFill>
          <a:ln w="12700">
            <a:solidFill>
              <a:srgbClr val="EDF4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11112" y="5065776"/>
            <a:ext cx="365760" cy="36576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5047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extrapolation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541324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predict a flat line outside the range they were trained on. Never forecast a trend with them.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E8683F"/>
          </a:solidFill>
          <a:ln w="12700">
            <a:solidFill>
              <a:srgbClr val="E868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here, the notebooks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boosting as gradient descent in function space — and code it in nine lines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bagging and boosting, and justify it with bias and variance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early-stop, tune and interpret an XGBoost model on messy real data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metric and the right decision threshold for an imbalanced problem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100"/>
              </a:spcAft>
              <a:buSzPct val="100000"/>
              <a:buChar char="●"/>
            </a:pPr>
            <a:r>
              <a:rPr lang="en-US" sz="15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 modes before they reach production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01_Ensemble_Learning_Methods.ipynb        02_XGBoost_and_Gradient_Boosting.ipynb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Learning &amp; Gradient Boosting</dc:title>
  <dc:subject>PptxGenJS Presentation</dc:subject>
  <dc:creator>ML Training</dc:creator>
  <cp:lastModifiedBy>ML Training</cp:lastModifiedBy>
  <cp:revision>1</cp:revision>
  <dcterms:created xsi:type="dcterms:W3CDTF">2026-07-27T12:44:34Z</dcterms:created>
  <dcterms:modified xsi:type="dcterms:W3CDTF">2026-07-27T12:44:34Z</dcterms:modified>
</cp:coreProperties>
</file>